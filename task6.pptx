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public/artifacts/4f46209c-7f11-4347-90ac-dbb51783379b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41069"/>
            <a:ext cx="51358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u="sng" b="1" sz="1200">
                <a:solidFill>
                  <a:srgbClr val="467886"/>
                </a:solidFill>
                <a:uFill>
                  <a:solidFill>
                    <a:srgbClr val="467885">
                      <a:alpha val="100000"/>
                    </a:srgbClr>
                  </a:solidFill>
                </a:uFill>
                <a:latin typeface="Noto Serif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1"/>
                    </a:ext>
                  </a:extLst>
                </a:hlinkClick>
              </a:rPr>
              <a:t>https://claude.ai/public/artifacts/4f46209c-7f11-4347-90ac-dbb51783379b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8570"/>
            <a:ext cx="2931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New feature to add: Agent Evaluation Center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270" y="1576070"/>
            <a:ext cx="1710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1.</a:t>
            </a:r>
            <a:r>
              <a:rPr spc="-68" sz="1200">
                <a:solidFill>
                  <a:srgbClr val="000000"/>
                </a:solidFill>
                <a:latin typeface="Noto Serif"/>
              </a:rPr>
              <a:t>Evaluation Dashboard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93570"/>
            <a:ext cx="18072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1200">
                <a:solidFill>
                  <a:srgbClr val="000000"/>
                </a:solidFill>
                <a:latin typeface="Noto Serif"/>
              </a:rPr>
              <a:t>Title: EVALUATION CENTER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07260"/>
            <a:ext cx="30302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200">
                <a:solidFill>
                  <a:srgbClr val="000000"/>
                </a:solidFill>
                <a:latin typeface="Noto Serif"/>
              </a:rPr>
              <a:t>Heading: Measure what the agent can defend.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26030"/>
            <a:ext cx="469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1200">
                <a:solidFill>
                  <a:srgbClr val="000000"/>
                </a:solidFill>
                <a:latin typeface="Noto Serif"/>
              </a:rPr>
              <a:t>Cards: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3530"/>
            <a:ext cx="113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200">
                <a:solidFill>
                  <a:srgbClr val="000000"/>
                </a:solidFill>
                <a:latin typeface="Noto Serif"/>
              </a:rPr>
              <a:t>Accuracy — 94%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9760"/>
            <a:ext cx="16230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200">
                <a:solidFill>
                  <a:srgbClr val="000000"/>
                </a:solidFill>
                <a:latin typeface="Noto Serif"/>
              </a:rPr>
              <a:t>Task Completion — 91%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8529"/>
            <a:ext cx="14922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Groundedness — 96%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6029"/>
            <a:ext cx="1168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Reliability — 89%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3529"/>
            <a:ext cx="1301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200">
                <a:solidFill>
                  <a:srgbClr val="000000"/>
                </a:solidFill>
                <a:latin typeface="Noto Serif"/>
              </a:rPr>
              <a:t>Robustness — 87%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1030"/>
            <a:ext cx="1625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200">
                <a:solidFill>
                  <a:srgbClr val="000000"/>
                </a:solidFill>
                <a:latin typeface="Noto Serif"/>
              </a:rPr>
              <a:t>Evidence Quality — 93%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270" y="4744720"/>
            <a:ext cx="13322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2.</a:t>
            </a:r>
            <a:r>
              <a:rPr spc="-63" sz="1200">
                <a:solidFill>
                  <a:srgbClr val="000000"/>
                </a:solidFill>
                <a:latin typeface="Noto Serif"/>
              </a:rPr>
              <a:t>Scenario Testing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62220"/>
            <a:ext cx="1498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Add buttons/cards for: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80990"/>
            <a:ext cx="1286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✓ Normal Scenario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98490"/>
            <a:ext cx="13144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? Ambiguous Query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220" y="6037580"/>
            <a:ext cx="1167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Adversarial Input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55080"/>
            <a:ext cx="1737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200">
                <a:solidFill>
                  <a:srgbClr val="000000"/>
                </a:solidFill>
                <a:latin typeface="Noto Serif"/>
              </a:rPr>
              <a:t>↔ Contradictory Evidence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672580"/>
            <a:ext cx="16573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! Incomplete Information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992620"/>
            <a:ext cx="955039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ans Symbols"/>
              </a:rPr>
              <a:t>⟳</a:t>
            </a:r>
            <a:r>
              <a:rPr spc="-84" sz="1200">
                <a:solidFill>
                  <a:srgbClr val="000000"/>
                </a:solidFill>
                <a:latin typeface="Noto Serif"/>
              </a:rPr>
              <a:t> Tool Failure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312659"/>
            <a:ext cx="1191260" cy="154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91" sz="1200">
                <a:solidFill>
                  <a:srgbClr val="000000"/>
                </a:solidFill>
                <a:latin typeface="Noto Sans Symbols"/>
              </a:rPr>
              <a:t>⇄</a:t>
            </a:r>
            <a:r>
              <a:rPr spc="-47" sz="1200">
                <a:solidFill>
                  <a:srgbClr val="000000"/>
                </a:solidFill>
                <a:latin typeface="Noto Serif"/>
              </a:rPr>
              <a:t> Repeated Runs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628890"/>
            <a:ext cx="155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200">
                <a:solidFill>
                  <a:srgbClr val="000000"/>
                </a:solidFill>
                <a:latin typeface="Noto Serif"/>
              </a:rPr>
              <a:t>≡ Baseline Comparison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270" y="7946390"/>
            <a:ext cx="2336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3.</a:t>
            </a:r>
            <a:r>
              <a:rPr spc="-54" sz="1200">
                <a:solidFill>
                  <a:srgbClr val="000000"/>
                </a:solidFill>
                <a:latin typeface="Noto Serif"/>
              </a:rPr>
              <a:t>New Evaluation Results Section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263890"/>
            <a:ext cx="1508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200">
                <a:solidFill>
                  <a:srgbClr val="000000"/>
                </a:solidFill>
                <a:latin typeface="Noto Serif"/>
              </a:rPr>
              <a:t>Show metrics such as: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581390"/>
            <a:ext cx="16573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200">
                <a:solidFill>
                  <a:srgbClr val="000000"/>
                </a:solidFill>
                <a:latin typeface="Noto Serif"/>
              </a:rPr>
              <a:t>Hallucination Rate: 3.2%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896350"/>
            <a:ext cx="1333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Recovery Rate: 92%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41069"/>
            <a:ext cx="1212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Consistency: 88%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8570"/>
            <a:ext cx="14541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000000"/>
                </a:solidFill>
                <a:latin typeface="Noto Serif"/>
              </a:rPr>
              <a:t>Average Latency: 2.4s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76070"/>
            <a:ext cx="13373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200">
                <a:solidFill>
                  <a:srgbClr val="000000"/>
                </a:solidFill>
                <a:latin typeface="Noto Serif"/>
              </a:rPr>
              <a:t>Tool Efficiency: 87%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93570"/>
            <a:ext cx="241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Unsupported Claims Refused: 100%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270" y="2207260"/>
            <a:ext cx="21297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4.</a:t>
            </a:r>
            <a:r>
              <a:rPr spc="-66" sz="1200">
                <a:solidFill>
                  <a:srgbClr val="000000"/>
                </a:solidFill>
                <a:latin typeface="Noto Serif"/>
              </a:rPr>
              <a:t>Uncertainty &amp; Safety Feature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26030"/>
            <a:ext cx="23304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Add an Agent Decision Status card: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220" y="2865120"/>
            <a:ext cx="30441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Evidence Sufficient → Answer with confidence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220" y="3208020"/>
            <a:ext cx="33210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Uncertainty Detected → Clearly explain limitations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220" y="3548379"/>
            <a:ext cx="368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200">
                <a:solidFill>
                  <a:srgbClr val="000000"/>
                </a:solidFill>
                <a:latin typeface="Noto Serif"/>
              </a:rPr>
              <a:t> Evidence Insufficient → Refuse unsupported conclusion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4270" y="3868420"/>
            <a:ext cx="168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5.</a:t>
            </a:r>
            <a:r>
              <a:rPr spc="-76" sz="1200">
                <a:solidFill>
                  <a:srgbClr val="000000"/>
                </a:solidFill>
                <a:latin typeface="Noto Serif"/>
              </a:rPr>
              <a:t>Failure Recovery Flow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3379"/>
            <a:ext cx="12890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200">
                <a:solidFill>
                  <a:srgbClr val="000000"/>
                </a:solidFill>
                <a:latin typeface="Noto Serif"/>
              </a:rPr>
              <a:t>Research Tool Fails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090" y="4500880"/>
            <a:ext cx="15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00">
                <a:solidFill>
                  <a:srgbClr val="000000"/>
                </a:solidFill>
                <a:latin typeface="Noto Serif"/>
              </a:rPr>
              <a:t> ↓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18380"/>
            <a:ext cx="9550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Detect Failure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090" y="5135880"/>
            <a:ext cx="15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00">
                <a:solidFill>
                  <a:srgbClr val="000000"/>
                </a:solidFill>
                <a:latin typeface="Noto Serif"/>
              </a:rPr>
              <a:t> ↓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53380"/>
            <a:ext cx="1692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200">
                <a:solidFill>
                  <a:srgbClr val="000000"/>
                </a:solidFill>
                <a:latin typeface="Noto Serif"/>
              </a:rPr>
              <a:t>Retry / Alternative Source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090" y="5770880"/>
            <a:ext cx="15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00">
                <a:solidFill>
                  <a:srgbClr val="000000"/>
                </a:solidFill>
                <a:latin typeface="Noto Serif"/>
              </a:rPr>
              <a:t> ↓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88380"/>
            <a:ext cx="1358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Verify New Evidence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090" y="6403340"/>
            <a:ext cx="15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00">
                <a:solidFill>
                  <a:srgbClr val="000000"/>
                </a:solidFill>
                <a:latin typeface="Noto Serif"/>
              </a:rPr>
              <a:t> ↓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720840"/>
            <a:ext cx="14325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200">
                <a:solidFill>
                  <a:srgbClr val="000000"/>
                </a:solidFill>
                <a:latin typeface="Noto Serif"/>
              </a:rPr>
              <a:t>Recover Successfully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090" y="7038340"/>
            <a:ext cx="15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00">
                <a:solidFill>
                  <a:srgbClr val="000000"/>
                </a:solidFill>
                <a:latin typeface="Noto Serif"/>
              </a:rPr>
              <a:t> ↓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355840"/>
            <a:ext cx="11912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Update Audit Trail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270" y="7673340"/>
            <a:ext cx="1526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6.</a:t>
            </a:r>
            <a:r>
              <a:rPr spc="-76" sz="1200">
                <a:solidFill>
                  <a:srgbClr val="000000"/>
                </a:solidFill>
                <a:latin typeface="Noto Serif"/>
              </a:rPr>
              <a:t>Navigation upgrade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990840"/>
            <a:ext cx="23939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200">
                <a:solidFill>
                  <a:srgbClr val="000000"/>
                </a:solidFill>
                <a:latin typeface="Noto Serif"/>
              </a:rPr>
              <a:t>I recommend changing the menu to: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308340"/>
            <a:ext cx="8788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000000"/>
                </a:solidFill>
                <a:latin typeface="Noto Serif"/>
              </a:rPr>
              <a:t>⌂ Dashboard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628380"/>
            <a:ext cx="76835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ans Symbols"/>
              </a:rPr>
              <a:t>⌕</a:t>
            </a:r>
            <a:r>
              <a:rPr spc="-48" sz="1200">
                <a:solidFill>
                  <a:srgbClr val="000000"/>
                </a:solidFill>
                <a:latin typeface="Noto Serif"/>
              </a:rPr>
              <a:t> Research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945880"/>
            <a:ext cx="64135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1200">
                <a:solidFill>
                  <a:srgbClr val="000000"/>
                </a:solidFill>
                <a:latin typeface="Noto Sans Symbols"/>
              </a:rPr>
              <a:t>◈</a:t>
            </a:r>
            <a:r>
              <a:rPr spc="-56" sz="1200">
                <a:solidFill>
                  <a:srgbClr val="000000"/>
                </a:solidFill>
                <a:latin typeface="Noto Serif"/>
              </a:rPr>
              <a:t> Agents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42340"/>
            <a:ext cx="88265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1200">
                <a:solidFill>
                  <a:srgbClr val="000000"/>
                </a:solidFill>
                <a:latin typeface="Noto Sans Symbols"/>
              </a:rPr>
              <a:t>▣</a:t>
            </a:r>
            <a:r>
              <a:rPr spc="-73" sz="1200">
                <a:solidFill>
                  <a:srgbClr val="000000"/>
                </a:solidFill>
                <a:latin typeface="Noto Serif"/>
              </a:rPr>
              <a:t> Evaluation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9840"/>
            <a:ext cx="789939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5" sz="1200">
                <a:solidFill>
                  <a:srgbClr val="000000"/>
                </a:solidFill>
                <a:latin typeface="Noto Sans Symbols"/>
              </a:rPr>
              <a:t>◉</a:t>
            </a:r>
            <a:r>
              <a:rPr spc="-62" sz="1200">
                <a:solidFill>
                  <a:srgbClr val="000000"/>
                </a:solidFill>
                <a:latin typeface="Noto Serif"/>
              </a:rPr>
              <a:t> Evidence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81150"/>
            <a:ext cx="955039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5" sz="1200">
                <a:solidFill>
                  <a:srgbClr val="000000"/>
                </a:solidFill>
                <a:latin typeface="Noto Sans Symbols"/>
              </a:rPr>
              <a:t>◷</a:t>
            </a:r>
            <a:r>
              <a:rPr spc="-75" sz="1200">
                <a:solidFill>
                  <a:srgbClr val="000000"/>
                </a:solidFill>
                <a:latin typeface="Noto Serif"/>
              </a:rPr>
              <a:t> Run History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220" y="1918970"/>
            <a:ext cx="595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1200">
                <a:solidFill>
                  <a:srgbClr val="000000"/>
                </a:solidFill>
                <a:latin typeface="Noto Serif"/>
              </a:rPr>
              <a:t> Settings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